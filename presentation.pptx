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389120"/>
          </a:xfrm>
          <a:prstGeom prst="roundRect">
            <a:avLst/>
          </a:prstGeom>
          <a:solidFill>
            <a:srgbClr val="101A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BRAIN-COMPUTER INTERFACE (BCI)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Liberation Sans"/>
              </a:defRPr>
            </a:pPr>
            <a:r>
              <a:t>Motor Imagery EEG Classification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Liberation Sans"/>
              </a:defRPr>
            </a:pPr>
            <a:r>
              <a:t>Full End-to-End Engineering Pipeline: Preprocessing, EDA, Machine Learning &amp; Web Deployment</a:t>
            </a:r>
          </a:p>
          <a:p>
            <a:pPr>
              <a:defRPr sz="1400" b="1">
                <a:solidFill>
                  <a:srgbClr val="FFB703"/>
                </a:solidFill>
                <a:latin typeface="Liberation Sans"/>
              </a:defRPr>
            </a:pPr>
            <a:r>
              <a:t>Author / Team Lead: Data &amp; Preprocessing Engineering  •  Cellula Team Project  •  August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EXECUTIVE SUMMARY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Project Overview &amp; Mission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Core Mission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Liberation Sans"/>
              </a:defRPr>
            </a:pPr>
            <a:r>
              <a:t>• Decoding Brain Motor Intention: </a:t>
            </a:r>
            <a:r>
              <a:rPr b="0">
                <a:solidFill>
                  <a:srgbClr val="94A3B8"/>
                </a:solidFill>
              </a:rPr>
              <a:t>Classify whether a human is imagining LEFT or RIGHT hand movement strictly using scalp EEG signals (zero physical muscle actuation).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Liberation Sans"/>
              </a:defRPr>
            </a:pPr>
            <a:r>
              <a:t>• Raw Multi-Channel Dataset: </a:t>
            </a:r>
            <a:r>
              <a:rPr b="0">
                <a:solidFill>
                  <a:srgbClr val="94A3B8"/>
                </a:solidFill>
              </a:rPr>
              <a:t>Processed 2,160 experimental trial CSV files captured via 4 scalp electrodes (FZ, C3, CZ, C4) at 250 Hz.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Liberation Sans"/>
              </a:defRPr>
            </a:pPr>
            <a:r>
              <a:t>• Multi-Stage Pipeline Engineering: </a:t>
            </a:r>
            <a:r>
              <a:rPr b="0">
                <a:solidFill>
                  <a:srgbClr val="94A3B8"/>
                </a:solidFill>
              </a:rPr>
              <a:t>Designed, validated, and deployed the complete 4-stage pipeline: Preprocessing, Exploratory Data Analysis, Modeling, and Web App Deployment.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Liberation Sans"/>
              </a:defRPr>
            </a:pPr>
            <a:r>
              <a:t>• Assistive Technology Goal: </a:t>
            </a:r>
            <a:r>
              <a:rPr b="0">
                <a:solidFill>
                  <a:srgbClr val="94A3B8"/>
                </a:solidFill>
              </a:rPr>
              <a:t>Targeted for neuro-rehabilitation and motorized assistive wheelchair/prosthetic control demos.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Delivered Engineering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✔ Clean Standardized Tensors: </a:t>
            </a:r>
            <a:r>
              <a:rPr b="0">
                <a:solidFill>
                  <a:srgbClr val="94A3B8"/>
                </a:solidFill>
              </a:rPr>
              <a:t>X_clean.npy (0.5–40 Hz broadband) and X_clean_mubeta.npy (8–30 Hz SMR band) across 1,031 clean trials.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✔ Comprehensive Audit Trail: </a:t>
            </a:r>
            <a:r>
              <a:rPr b="0">
                <a:solidFill>
                  <a:srgbClr val="94A3B8"/>
                </a:solidFill>
              </a:rPr>
              <a:t>100% transparent audit log (trial_audit_metadata.csv) tracking amplitude, variance, and rejection reasons for all 2,160 trials.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✔ 5 Evaluated Model Benchmarks: </a:t>
            </a:r>
            <a:r>
              <a:rPr b="0">
                <a:solidFill>
                  <a:srgbClr val="94A3B8"/>
                </a:solidFill>
              </a:rPr>
              <a:t>Trained and cross-validated CSP+SVM, EEGNet, CNN, CNN-LSTM, and Transformer models.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✔ Production Web App: </a:t>
            </a:r>
            <a:r>
              <a:rPr b="0">
                <a:solidFill>
                  <a:srgbClr val="94A3B8"/>
                </a:solidFill>
              </a:rPr>
              <a:t>Interactive Flask web application (Deployment/app.py) with real-time CSV trial upload and safety rejection gates.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SCIENTIFIC PRINCIPLES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Neurophysiology of Motor Imagery (SMR Modulation)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1. Sensorimotor Rhythms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Originates over the primary motor cortex (M1) and somatosensory strip.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Mu Rhythm (8–12 Hz): Reflects idling cortical motor networks.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Beta Rhythm (13–30 Hz): Associated with sensorimotor inhibition and active task execution.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Electrodes C3 and C4 directly overlay the hand representation areas.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2. Contralateral ERD / 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Event-Related Desynchronization (ERD): Imagining hand movement produces a localized power DECREASE in Mu/Beta bands.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Contralateral Organization:</a:t>
            </a:r>
            <a:br/>
            <a:r>
              <a:t>  - RIGHT Hand Imagery -&gt; ERD on LEFT hemisphere (C3 electrode).</a:t>
            </a:r>
            <a:br/>
            <a:r>
              <a:t>  - LEFT Hand Imagery -&gt; ERD on RIGHT hemisphere (C4 electrode).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Event-Related Synchronization (ERS): Power rebound post-imagery.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Liberation Sans"/>
              </a:defRPr>
            </a:pPr>
            <a:r>
              <a:t>3. The Physical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Extreme Low SNR: Cortical ERD is only 10–50 µV, heavily attenuated by skull bone and scalp tissue.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Volume Conduction: Current spreads across the scalp, causing cross-electrode signal mixing.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High Interference: Blinks (100–500 µV), muscle tension, and 50 Hz powerline hum swamp brain signals.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Liberation Sans"/>
              </a:defRPr>
            </a:pPr>
            <a:r>
              <a:t>• Subject Variability: Individual alpha frequencies vary widely (8.5–12.5 Hz).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DATASET INGESTION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Raw Data Landscape &amp; Hardware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Liberation Sans"/>
              </a:defRPr>
            </a:pPr>
            <a:r>
              <a:t>TOTAL RECORDED TRIALS</a:t>
            </a:r>
          </a:p>
          <a:p>
            <a:pPr>
              <a:defRPr sz="2200" b="1">
                <a:solidFill>
                  <a:srgbClr val="00E5FF"/>
                </a:solidFill>
                <a:latin typeface="Liberation Sans"/>
              </a:defRPr>
            </a:pPr>
            <a:r>
              <a:t>2,160</a:t>
            </a:r>
          </a:p>
          <a:p>
            <a:pPr>
              <a:defRPr sz="1000">
                <a:solidFill>
                  <a:srgbClr val="F8FAFC"/>
                </a:solidFill>
                <a:latin typeface="Liberation Sans"/>
              </a:defRPr>
            </a:pPr>
            <a:r>
              <a:t>CSV files (1 trial/file)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5087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Liberation Sans"/>
              </a:defRPr>
            </a:pPr>
            <a:r>
              <a:t>ELECTRODE MONTAGE</a:t>
            </a:r>
          </a:p>
          <a:p>
            <a:pPr>
              <a:defRPr sz="2200" b="1">
                <a:solidFill>
                  <a:srgbClr val="FFB703"/>
                </a:solidFill>
                <a:latin typeface="Liberation Sans"/>
              </a:defRPr>
            </a:pPr>
            <a:r>
              <a:t>4 Channels</a:t>
            </a:r>
          </a:p>
          <a:p>
            <a:pPr>
              <a:defRPr sz="1000">
                <a:solidFill>
                  <a:srgbClr val="F8FAFC"/>
                </a:solidFill>
                <a:latin typeface="Liberation Sans"/>
              </a:defRPr>
            </a:pPr>
            <a:r>
              <a:t>FZ, C3, CZ, C4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603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087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Liberation Sans"/>
              </a:defRPr>
            </a:pPr>
            <a:r>
              <a:t>SAMPLING FREQUENCY</a:t>
            </a:r>
          </a:p>
          <a:p>
            <a:pPr>
              <a:defRPr sz="2200" b="1">
                <a:solidFill>
                  <a:srgbClr val="10B981"/>
                </a:solidFill>
                <a:latin typeface="Liberation Sans"/>
              </a:defRPr>
            </a:pPr>
            <a:r>
              <a:t>250 Hz</a:t>
            </a:r>
          </a:p>
          <a:p>
            <a:pPr>
              <a:defRPr sz="1000">
                <a:solidFill>
                  <a:srgbClr val="F8FAFC"/>
                </a:solidFill>
                <a:latin typeface="Liberation Sans"/>
              </a:defRPr>
            </a:pPr>
            <a:r>
              <a:t>2,500 samples (10.0s)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60320" cy="12801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508760"/>
            <a:ext cx="2377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Liberation Sans"/>
              </a:defRPr>
            </a:pPr>
            <a:r>
              <a:t>HARDWARE AMPLIFIER</a:t>
            </a:r>
          </a:p>
          <a:p>
            <a:pPr>
              <a:defRPr sz="2200" b="1">
                <a:solidFill>
                  <a:srgbClr val="00E5FF"/>
                </a:solidFill>
                <a:latin typeface="Liberation Sans"/>
              </a:defRPr>
            </a:pPr>
            <a:r>
              <a:t>ADS1299</a:t>
            </a:r>
          </a:p>
          <a:p>
            <a:pPr>
              <a:defRPr sz="1000">
                <a:solidFill>
                  <a:srgbClr val="F8FAFC"/>
                </a:solidFill>
                <a:latin typeface="Liberation Sans"/>
              </a:defRPr>
            </a:pPr>
            <a:r>
              <a:t>24-bit ADC (Gain=24)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3200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Hardware Calibration &amp; Scale 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Raw 24-bit ADC Counts: </a:t>
            </a:r>
            <a:r>
              <a:rPr b="0">
                <a:solidFill>
                  <a:srgbClr val="94A3B8"/>
                </a:solidFill>
              </a:rPr>
              <a:t>Raw CSV values were ~300,000 integer counts, reflecting raw Texas Instruments ADS1299 ADC output.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Microvolt Scale Constant: </a:t>
            </a:r>
            <a:r>
              <a:rPr b="0">
                <a:solidFill>
                  <a:srgbClr val="94A3B8"/>
                </a:solidFill>
              </a:rPr>
              <a:t>V = Counts × (4.5V / (24 × (2²³ - 1))) × 10⁶ = Counts × 0.02235174 µV/count.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Restoring Physiology: </a:t>
            </a:r>
            <a:r>
              <a:rPr b="0">
                <a:solidFill>
                  <a:srgbClr val="94A3B8"/>
                </a:solidFill>
              </a:rPr>
              <a:t>Multiplying raw counts by 0.02235 µV returned true physiological amplitudes (~20–100 µV).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212080" cy="3200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Liberation Sans"/>
              </a:defRPr>
            </a:pPr>
            <a:r>
              <a:t>Raw Data Flaws &amp; Deficiencies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Liberation Sans"/>
              </a:defRPr>
            </a:pPr>
            <a:r>
              <a:t>⚠ Massive DC Offset &amp; Drift: </a:t>
            </a:r>
            <a:r>
              <a:rPr b="0">
                <a:solidFill>
                  <a:srgbClr val="94A3B8"/>
                </a:solidFill>
              </a:rPr>
              <a:t>Signals had huge half-cell DC offsets (~7,200 µV) that would cause filter edge ringing if unaddressed.</a:t>
            </a:r>
          </a:p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Liberation Sans"/>
              </a:defRPr>
            </a:pPr>
            <a:r>
              <a:t>⚠ 50 Hz Powerline Intrusion: </a:t>
            </a:r>
            <a:r>
              <a:rPr b="0">
                <a:solidFill>
                  <a:srgbClr val="94A3B8"/>
                </a:solidFill>
              </a:rPr>
              <a:t>Mains hum completely dominated high-frequency spectrum across all electrodes.</a:t>
            </a:r>
          </a:p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Liberation Sans"/>
              </a:defRPr>
            </a:pPr>
            <a:r>
              <a:t>⚠ Timestamp Jitter: </a:t>
            </a:r>
            <a:r>
              <a:rPr b="0">
                <a:solidFill>
                  <a:srgbClr val="94A3B8"/>
                </a:solidFill>
              </a:rPr>
              <a:t>Inter-sample interval Δt ranged from 0.000005s to 0.040s; required uniform spline resampling to 250 Hz.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PIPELINE ARCHITECTURE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The 8-Stage EEG Preprocessing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64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  <a:latin typeface="Liberation Sans"/>
              </a:defRPr>
            </a:pPr>
            <a:r>
              <a:t>1. Ingestion &amp; Scale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Convert 24-bit ADC counts to µV (0.02235). Spline resample to uniform 250 Hz.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54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64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  <a:latin typeface="Liberation Sans"/>
              </a:defRPr>
            </a:pPr>
            <a:r>
              <a:t>2. Detrend &amp; 50Hz Notch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Linear detrending removes DC drift. Zero-phase IIR Notch (Q=30) cuts powerline hum.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  <a:latin typeface="Liberation Sans"/>
              </a:defRPr>
            </a:pPr>
            <a:r>
              <a:t>3. Bandpass Filtering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4th-order zero-phase Butterworth SOS (0.5–40 Hz broadband &amp; 8–30 Hz Mu/Beta).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54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5984" y="1664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  <a:latin typeface="Liberation Sans"/>
              </a:defRPr>
            </a:pPr>
            <a:r>
              <a:t>4. Spatial Re-reference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Common Average Reference (CAR: Vi - mean) cancels global environmental noise.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50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  <a:latin typeface="Liberation Sans"/>
              </a:defRPr>
            </a:pPr>
            <a:r>
              <a:t>5. Artifact Rejection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Discard trials with PTP &gt; 200 µV, dead channels (Var &lt; 0.5), or variance |Z| &gt; 4.0.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3840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950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6. Baseline Subtraction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Subtract mean of pre-stimulus baseline window (0.0–0.5s) to center signal at 0 µV.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840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50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7. Task Epoch Window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Slice active motor imagery execution window (0.5–3.5s post-cue, exactly 751 points).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3840480"/>
            <a:ext cx="2560320" cy="20574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3950208"/>
            <a:ext cx="23408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Liberation Sans"/>
              </a:defRPr>
            </a:pPr>
            <a:r>
              <a:t>8. Conditioning &amp; Scale</a:t>
            </a:r>
          </a:p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Soft-clip spikes via 4.5σ Winsorization. Standardize channels via Z-score scaling.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DATASET PURIFICATION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Quality Assurance &amp; Artifact Rejection Audit</a:t>
            </a:r>
          </a:p>
        </p:txBody>
      </p:sp>
      <p:pic>
        <p:nvPicPr>
          <p:cNvPr id="5" name="Picture 4" descr="04_artifact_audi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6692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554480"/>
            <a:ext cx="4846320" cy="448056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91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Artifact Audit &amp; Cohort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Total Ingested Trials: </a:t>
            </a:r>
            <a:r>
              <a:rPr b="0">
                <a:solidFill>
                  <a:srgbClr val="94A3B8"/>
                </a:solidFill>
              </a:rPr>
              <a:t>2,160 raw files (100% evaluated)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Clean Retained Trials: </a:t>
            </a:r>
            <a:r>
              <a:rPr b="0">
                <a:solidFill>
                  <a:srgbClr val="94A3B8"/>
                </a:solidFill>
              </a:rPr>
              <a:t>1,031 trials (47.7% acceptance rate)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Corrupted Rejected Trials: </a:t>
            </a:r>
            <a:r>
              <a:rPr b="0">
                <a:solidFill>
                  <a:srgbClr val="94A3B8"/>
                </a:solidFill>
              </a:rPr>
              <a:t>1,129 trials (52.3% rejection rate)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Class Balance Maintained: </a:t>
            </a:r>
            <a:r>
              <a:rPr b="0">
                <a:solidFill>
                  <a:srgbClr val="94A3B8"/>
                </a:solidFill>
              </a:rPr>
              <a:t>533 Left (51.7%) vs 498 Right (48.3%) — Perfectly balanced 1.07 : 1 ratio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Extreme Amplitude Rejections: </a:t>
            </a:r>
            <a:r>
              <a:rPr b="0">
                <a:solidFill>
                  <a:srgbClr val="94A3B8"/>
                </a:solidFill>
              </a:rPr>
              <a:t>982 trials exceeded 200 µV PTP threshold (eye blinks, jaw clenching, motion)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Statistical Outlier Rejections: </a:t>
            </a:r>
            <a:r>
              <a:rPr b="0">
                <a:solidFill>
                  <a:srgbClr val="94A3B8"/>
                </a:solidFill>
              </a:rPr>
              <a:t>814 trials had robust variance |Z| &gt; 4.0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Liberation Sans"/>
              </a:defRPr>
            </a:pPr>
            <a:r>
              <a:t>• Scientific Integrity: </a:t>
            </a:r>
            <a:r>
              <a:rPr b="0">
                <a:solidFill>
                  <a:srgbClr val="94A3B8"/>
                </a:solidFill>
              </a:rPr>
              <a:t>Every rejected trial and its explicit reason is permanently logged in trial_audit_metadata.csv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EXPLORATORY DATA ANALYSIS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EDA &amp; Verification: Filtering &amp; Spatial Decoupling</a:t>
            </a:r>
          </a:p>
        </p:txBody>
      </p:sp>
      <p:pic>
        <p:nvPicPr>
          <p:cNvPr id="5" name="Picture 4" descr="02_psd_filtering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212080" cy="2926080"/>
          </a:xfrm>
          <a:prstGeom prst="rect">
            <a:avLst/>
          </a:prstGeom>
        </p:spPr>
      </p:pic>
      <p:pic>
        <p:nvPicPr>
          <p:cNvPr id="6" name="Picture 5" descr="05_channel_cross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17720"/>
            <a:ext cx="5212080" cy="1645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Spectral Verification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&gt;40 dB attenuation of 50 Hz powerline interference without notch leakage.</a:t>
            </a:r>
            <a:br/>
            <a:r>
              <a:t>• Clean preservation of Mu (8–12 Hz) and Beta (13–30 Hz) rhythm passband.</a:t>
            </a:r>
            <a:br/>
            <a:r>
              <a:t>• Low-frequency drift rolloff eliminates half-cell electrochemical offsets.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17720"/>
            <a:ext cx="5212080" cy="1645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CAR Spatial Decoupling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Before CAR: Channels were 93%–98% correlated due to common reference noise.</a:t>
            </a:r>
            <a:br/>
            <a:r>
              <a:t>• After CAR: Cross-channel correlation dropped dramatically; C3 vs C4 correlation dropped to -0.27, unmasking independent hemispheric motor dynamics.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MODEL ENGINEERING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Modeling Strategy &amp; Architecture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5740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CSP + SVM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Classical Baseline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Common Spatial Patterns learns spatial variance filters in Mu/Beta band. Classified by Linear SVM.</a:t>
            </a:r>
          </a:p>
          <a:p>
            <a:pPr>
              <a:defRPr sz="1000" b="1">
                <a:solidFill>
                  <a:srgbClr val="FFB703"/>
                </a:solidFill>
                <a:latin typeface="Liberation Sans"/>
              </a:defRPr>
            </a:pPr>
            <a:r>
              <a:t>Features: Log-Variance</a:t>
            </a:r>
            <a:br/>
            <a:r>
              <a:t>Parameters: Minimal</a:t>
            </a:r>
            <a:br/>
            <a:r>
              <a:t>Speed: 1.35s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554480"/>
            <a:ext cx="205740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1" y="169164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Liberation Sans"/>
              </a:defRPr>
            </a:pPr>
            <a:r>
              <a:t>EEGNet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Specialized EEG DL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Compact CNN with temporal conv (1x64), depthwise spatial conv (4x1), separable conv, and ELU.</a:t>
            </a:r>
          </a:p>
          <a:p>
            <a:pPr>
              <a:defRPr sz="1000" b="1">
                <a:solidFill>
                  <a:srgbClr val="FFB703"/>
                </a:solidFill>
                <a:latin typeface="Liberation Sans"/>
              </a:defRPr>
            </a:pPr>
            <a:r>
              <a:t>Features: Raw Epoched</a:t>
            </a:r>
            <a:br/>
            <a:r>
              <a:t>Parameters: 1,426</a:t>
            </a:r>
            <a:br/>
            <a:r>
              <a:t>Speed: 15.57s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554480"/>
            <a:ext cx="205740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69164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CNN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2D Convolutional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Multi-stage temporal-spatial convolutions with feature flattening and dense classification head.</a:t>
            </a:r>
          </a:p>
          <a:p>
            <a:pPr>
              <a:defRPr sz="1000" b="1">
                <a:solidFill>
                  <a:srgbClr val="FFB703"/>
                </a:solidFill>
                <a:latin typeface="Liberation Sans"/>
              </a:defRPr>
            </a:pPr>
            <a:r>
              <a:t>Features: Raw Epoched</a:t>
            </a:r>
            <a:br/>
            <a:r>
              <a:t>Parameters: 26,834</a:t>
            </a:r>
            <a:br/>
            <a:r>
              <a:t>Speed: 18.56s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554480"/>
            <a:ext cx="205740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69164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CNN-LSTM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Spatio-Temporal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Cascades convolutional feature maps into a recurrent LSTM (hidden=32) for temporal sequence memory.</a:t>
            </a:r>
          </a:p>
          <a:p>
            <a:pPr>
              <a:defRPr sz="1000" b="1">
                <a:solidFill>
                  <a:srgbClr val="FFB703"/>
                </a:solidFill>
                <a:latin typeface="Liberation Sans"/>
              </a:defRPr>
            </a:pPr>
            <a:r>
              <a:t>Features: Raw Epoched</a:t>
            </a:r>
            <a:br/>
            <a:r>
              <a:t>Parameters: 37,202</a:t>
            </a:r>
            <a:br/>
            <a:r>
              <a:t>Speed: 23.92s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554480"/>
            <a:ext cx="205740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69164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Transformer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Self-Attention</a:t>
            </a:r>
          </a:p>
          <a:p>
            <a:pPr>
              <a:spcAft>
                <a:spcPts val="14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Temporal patch embedding, learnable 1D positional encoding, and 2-layer 4-head Transformer Encoder.</a:t>
            </a:r>
          </a:p>
          <a:p>
            <a:pPr>
              <a:defRPr sz="1000" b="1">
                <a:solidFill>
                  <a:srgbClr val="FFB703"/>
                </a:solidFill>
                <a:latin typeface="Liberation Sans"/>
              </a:defRPr>
            </a:pPr>
            <a:r>
              <a:t>Features: Raw Epoched</a:t>
            </a:r>
            <a:br/>
            <a:r>
              <a:t>Parameters: 44,402</a:t>
            </a:r>
            <a:br/>
            <a:r>
              <a:t>Speed: 15.45s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BENCHMARK METRICS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Experimental Results: The Performance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31520"/>
          </a:xfrm>
          <a:prstGeom prst="roundRect">
            <a:avLst/>
          </a:prstGeom>
          <a:solidFill>
            <a:srgbClr val="28141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CACA"/>
                </a:solidFill>
                <a:latin typeface="Liberation Sans"/>
              </a:defRPr>
            </a:pPr>
            <a:r>
              <a:t>CRITICAL RESULT: All evaluated models achieved ~50% to 52% test accuracy (chance-level binary performance). Permutation tests confirm that this is indistinguishable from random guessing.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1341081"/>
                <a:gridCol w="1341081"/>
                <a:gridCol w="1341081"/>
                <a:gridCol w="1341081"/>
                <a:gridCol w="1341081"/>
                <a:gridCol w="1341081"/>
                <a:gridCol w="1341088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Input Band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Balanced Acc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Liberation Sans"/>
                        </a:defRPr>
                      </a:pPr>
                      <a:r>
                        <a:t>Train Time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CSP + SVM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8–30 Hz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Minimal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50.15% ± 0.7%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49.65%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0.3866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0.5136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1.35s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EEGNet (Best)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0.5–40 Hz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1,426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0B981"/>
                          </a:solidFill>
                          <a:latin typeface="Liberation Sans"/>
                        </a:defRPr>
                      </a:pPr>
                      <a:r>
                        <a:t>51.79% ± 1.6%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51.34%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0.3447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0.5170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15.57s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0.5–40 Hz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26,834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50.72% ± 2.5%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50.40%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0.4221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0.4917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18.56s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CNN-LSTM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0.5–40 Hz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37,202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50.92% ± 1.3%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49.88%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0.2033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0.4887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23.92s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0.5–40 Hz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44,402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50.34% ± 2.4%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49.40%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0.2831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0.4908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Liberation Sans"/>
                        </a:defRPr>
                      </a:pPr>
                      <a:r>
                        <a:t>15.45s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Shuffled Baseline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Permuted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50.50% ± 1.1%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50.00%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  <a:latin typeface="Liberation San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Key Diagnostic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Zero Pipeline Leakage: Strict 5-Fold Stratified CV with isolated fold transformations ensures metrics reflect genuine out-of-fold generalization.</a:t>
            </a:r>
            <a:br/>
            <a:r>
              <a:t>• Permutation Test Proof: 20 iterations of shuffled labels yielded 50.50% accuracy; the real-label CSP score of 50.15% is statistically identical to random guessing (p = 0.55).</a:t>
            </a:r>
            <a:br/>
            <a:r>
              <a:t>• Provenance Verification: Label alignment audits confirmed 100% data and label synchronization with zero indexing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ROOT CAUSE ANALYSIS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Why Are Results Not Good? Part I: Spatial &amp; Algorithmic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Liberation Sans"/>
              </a:defRPr>
            </a:pPr>
            <a:r>
              <a:t>1. Extreme Spatial Sparsity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Benchmark BCI datasets (e.g. BCI Comp IV 2a) use 22 to 64 electrodes.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With only 4 channels (FZ, C3, CZ, C4), the spatial covariance matrix is only 4x4, offering just 4 degrees of freedom.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Common Spatial Patterns (CSP) mathematically requires redundant spatial dimensions to compute spatial filters that cancel volume conduction.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Without surrounding Laplacian rings around C3/C4 (e.g. FC3, CP3, C1, C5), local sensorimotor activity cannot be isolated.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2. CAR Distorts Contrast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Common Average Reference subtracts the mean across all electrodes: V_C3 - (FZ+C3+CZ+C4)/4.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Expanding this yields: (3/4)C3 - (1/4)C4 - (1/4)FZ - (1/4)CZ.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Because C3 and C4 are the contralateral motor channels, CAR forces 25% of C4's signal directly into C3!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With only 4 channels, CAR inadvertently washes out the lateralized difference between Left and Right hand mental imagery.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Liberation Sans"/>
              </a:defRPr>
            </a:pPr>
            <a:r>
              <a:t>3. Variance Signal Flattening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Normalizing each channel of every trial to unit variance (Z-score) forces channel variance to exactly 1.000.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Diagnostic audit in class_signal_summary.csv verified that variance and RMS are identically 1.0 across all trials.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CSP and ERD are fundamentally VARIANCE-BASED mechanisms (detecting power drops in C3 relative to C4).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Forcing every channel to unit variance flattens the amplitude discrepancy classifiers rely 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ROOT CAUSE ANALYSIS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Why Are Results Not Good? Part II: Biological &amp; Experimental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Liberation Sans"/>
              </a:defRPr>
            </a:pPr>
            <a:r>
              <a:t>4. Cross-Subject Pooling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Trials were pooled across multiple subjects without subject identifier metadata.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Individual Alpha Frequency (IAF) varies widely between 8.5 Hz and 12.5 Hz across humans.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Anatomical hand knob locations differ across skulls.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Training a single global model across pooled subjects without domain adaptation washes out individual ERDs into the group noise floor.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5. BCI Illiteracy (15–30%)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In clinical BCI literature, 15% to 30% of human subjects are 'BCI illiterate'.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Untrained participants fail to produce measurable Mu/Beta desynchronization during imagery without neurofeedback training.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Without live sensory feedback to condition the brain, naive subjects' mental imagery produces zero detectable voltage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Liberation Sans"/>
              </a:defRPr>
            </a:pPr>
            <a:r>
              <a:t>6. Severe Acquisition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52.3% of trials (1,129 out of 2,160) had to be rejected due to massive voltage bursts (&gt;200 µV) or dead flatlines.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This extraordinarily high contamination rate indicates poor skin-electrode contact impedance and excessive subject motion.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Liberation Sans"/>
              </a:defRPr>
            </a:pPr>
            <a:r>
              <a:t>• Even retained clean trials likely contained sub-threshold muscle micro-tension that obscured faint cognitive brain rhythms.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SYSTEM DEPLOYMENT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Web Deployment Architecture &amp; Clinical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Production Flask REST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Lightweight Web API: </a:t>
            </a:r>
            <a:r>
              <a:rPr b="0">
                <a:solidFill>
                  <a:srgbClr val="94A3B8"/>
                </a:solidFill>
              </a:rPr>
              <a:t>Engineered with Flask (Deployment/app.py) for full control over async JavaScript fetch endpoints and UI state management.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Dual Ingestion Modes: </a:t>
            </a:r>
            <a:r>
              <a:rPr b="0">
                <a:solidFill>
                  <a:srgbClr val="94A3B8"/>
                </a:solidFill>
              </a:rPr>
              <a:t>• Mode 1: Drag-and-drop CSV trial upload.
• Mode 2: One-click random clean example evaluation.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End-to-End Inference: </a:t>
            </a:r>
            <a:r>
              <a:rPr b="0">
                <a:solidFill>
                  <a:srgbClr val="94A3B8"/>
                </a:solidFill>
              </a:rPr>
              <a:t>Invokes transform_single_trial() on the raw CSV, applying identical calibration, detrending, notch, bandpass, CAR, and epoching in real time.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Liberation Sans"/>
              </a:defRPr>
            </a:pPr>
            <a:r>
              <a:t>• Ultralight Model Serving: </a:t>
            </a:r>
            <a:r>
              <a:rPr b="0">
                <a:solidFill>
                  <a:srgbClr val="94A3B8"/>
                </a:solidFill>
              </a:rPr>
              <a:t>Serves PyTorch EEGNet (1,426 parameters, &lt;20 KB weight file), executing inference in under 5 milliseconds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703"/>
                </a:solidFill>
                <a:latin typeface="Liberation Sans"/>
              </a:defRPr>
            </a:pPr>
            <a:r>
              <a:t>Clinical Safety Gate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The Biomedical Risk: </a:t>
            </a:r>
            <a:r>
              <a:rPr b="0">
                <a:solidFill>
                  <a:srgbClr val="94A3B8"/>
                </a:solidFill>
              </a:rPr>
              <a:t>In assistive robotics (e.g. wheelchair control), predicting on noisy EEG contaminated by a cough or blink could cause catastrophic false actuations.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Production Safety Gate: </a:t>
            </a:r>
            <a:r>
              <a:rPr b="0">
                <a:solidFill>
                  <a:srgbClr val="94A3B8"/>
                </a:solidFill>
              </a:rPr>
              <a:t>Before executing neural network forward pass, the trial is audited against rejection thresholds (PTP &lt;= 200 µV, Var &gt;= 0.5).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Rejection Fail-Safe: </a:t>
            </a:r>
            <a:r>
              <a:rPr b="0">
                <a:solidFill>
                  <a:srgbClr val="94A3B8"/>
                </a:solidFill>
              </a:rPr>
              <a:t>If corrupted, the app REFUSES to output a prediction. It halts immediately and returns an explicit warning alert:</a:t>
            </a:r>
          </a:p>
          <a:p>
            <a:pPr>
              <a:spcAft>
                <a:spcPts val="800"/>
              </a:spcAft>
              <a:defRPr sz="1300" b="1">
                <a:solidFill>
                  <a:srgbClr val="00E5FF"/>
                </a:solidFill>
                <a:latin typeface="Liberation Sans"/>
              </a:defRPr>
            </a:pPr>
            <a:r>
              <a:t>✔ Response Payload: </a:t>
            </a:r>
            <a:r>
              <a:rPr b="0">
                <a:solidFill>
                  <a:srgbClr val="94A3B8"/>
                </a:solidFill>
              </a:rPr>
              <a:t>{"is_valid": false, "rejection_reasons": "extreme_ptp_amplitude_C3_(485.2uV &gt; 200.0uV)"}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STRATEGIC ENHANCEMENTS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Roadmap to High Performance (&gt;80% Accuracy)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  <a:latin typeface="Liberation Sans"/>
              </a:defRPr>
            </a:pPr>
            <a:r>
              <a:t>1. Pre-Processing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Replace per-trial Z-score with pre-cue baseline normalization (preserves spatial power contrast).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Replace 4-channel CAR with localized bipolar derivations (C3 - CZ, C4 - CZ).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Apply Independent Component Analysis (ICA) to remove blinks/EMG instead of discarding 52% of trials.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Tune filter passbands to Individual Alpha Frequency (IAF).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5448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9164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  <a:latin typeface="Liberation Sans"/>
              </a:defRPr>
            </a:pPr>
            <a:r>
              <a:t>2. Machine Learning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Implement Filter Bank CSP (FBCSP) across 4–40 Hz sub-bands with feature selection.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Apply Riemannian Geometry on covariance matrices (Tangent Space Logistic Regression).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Use Domain Adaptation (CORAL / DANN) to align cross-subject distributions.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Expand dataset with EEG time-shift and Mixup augmentation.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69164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B703"/>
                </a:solidFill>
                <a:latin typeface="Liberation Sans"/>
              </a:defRPr>
            </a:pPr>
            <a:r>
              <a:t>3. Hardware &amp; Montage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Increase electrode density from 4 to 16–32 channels focused on sensorimotor strip.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Deploy true surface Laplacian rings around C3 and C4 (FC3, CP3, C1, C5).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Use active shielded wet electrodes; enforce skin impedance &lt; 5 kΩ.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Record explicit Subject ID and Session ID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54480"/>
            <a:ext cx="256032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69164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  <a:latin typeface="Liberation Sans"/>
              </a:defRPr>
            </a:pPr>
            <a:r>
              <a:t>4. Experimental Protocol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Implement real-time visual neurofeedback to condition subject motor imagery.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Train subjects over 3–5 sessions to overcome BCI illiteracy.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Synchronize precise cue onset timestamps using hardware triggers.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Liberation Sans"/>
              </a:defRPr>
            </a:pPr>
            <a:r>
              <a:t>• Deploy confidence-gated thresholds in production web demos.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0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  PROJECT SUMMARY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Liberation Sans"/>
              </a:defRPr>
            </a:pPr>
            <a:r>
              <a:t>Conclusions &amp; Engineering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Liberation Sans"/>
              </a:defRPr>
            </a:pPr>
            <a:r>
              <a:t>Engineering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Modular Production Pipeline: </a:t>
            </a:r>
            <a:r>
              <a:rPr b="0">
                <a:solidFill>
                  <a:srgbClr val="94A3B8"/>
                </a:solidFill>
              </a:rPr>
              <a:t>Successfully built, tested, and validated an 8-stage zero-phase preprocessing pipeline from raw ADC counts to normalized tensors.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Scientific Integrity &amp; Audit: </a:t>
            </a:r>
            <a:r>
              <a:rPr b="0">
                <a:solidFill>
                  <a:srgbClr val="94A3B8"/>
                </a:solidFill>
              </a:rPr>
              <a:t>Provided 100% transparent audit metadata for every trial, verifying label alignment and provenance.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Extensive Benchmark Suite: </a:t>
            </a:r>
            <a:r>
              <a:rPr b="0">
                <a:solidFill>
                  <a:srgbClr val="94A3B8"/>
                </a:solidFill>
              </a:rPr>
              <a:t>Evaluated 5 competitive architectures with strict Stratified 5-Fold Cross-Validation, eliminating data leakage.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Liberation Sans"/>
              </a:defRPr>
            </a:pPr>
            <a:r>
              <a:t>✔ Full Deployment Ready: </a:t>
            </a:r>
            <a:r>
              <a:rPr b="0">
                <a:solidFill>
                  <a:srgbClr val="94A3B8"/>
                </a:solidFill>
              </a:rPr>
              <a:t>Delivered a lightweight Flask web application with live CSV prediction and clinical artifact rejection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Liberation Sans"/>
              </a:defRPr>
            </a:pPr>
            <a:r>
              <a:t>Scientific &amp; Diagnostic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Liberation Sans"/>
              </a:defRPr>
            </a:pPr>
            <a:r>
              <a:t>💡 Honest Empirical Science: </a:t>
            </a:r>
            <a:r>
              <a:rPr b="0">
                <a:solidFill>
                  <a:srgbClr val="94A3B8"/>
                </a:solidFill>
              </a:rPr>
              <a:t>The ~50% baseline accuracy is not an engineering failure, but a proven consequence of 4-channel spatial limits, CAR contrast mixing, and pooled inter-subject variability.</a:t>
            </a:r>
          </a:p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Liberation Sans"/>
              </a:defRPr>
            </a:pPr>
            <a:r>
              <a:t>💡 Garbage In, Garbage Out: </a:t>
            </a:r>
            <a:r>
              <a:rPr b="0">
                <a:solidFill>
                  <a:srgbClr val="94A3B8"/>
                </a:solidFill>
              </a:rPr>
              <a:t>Advanced deep learning (Transformers, CNN-LSTM) cannot compensate for raw data where physiological class differences are absent (p &gt; 0.58).</a:t>
            </a:r>
          </a:p>
          <a:p>
            <a:pPr>
              <a:spcAft>
                <a:spcPts val="1000"/>
              </a:spcAft>
              <a:defRPr sz="1300" b="1">
                <a:solidFill>
                  <a:srgbClr val="00E5FF"/>
                </a:solidFill>
                <a:latin typeface="Liberation Sans"/>
              </a:defRPr>
            </a:pPr>
            <a:r>
              <a:t>💡 Clear Path to High Accuracy: </a:t>
            </a:r>
            <a:r>
              <a:rPr b="0">
                <a:solidFill>
                  <a:srgbClr val="94A3B8"/>
                </a:solidFill>
              </a:rPr>
              <a:t>The clear technical roadmap (FBCSP, Riemannian geometry, local bipolar derivations, and dense electrode arrays) provides a structured blueprint for future 80%+ BCI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2D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Liberation Sans"/>
              </a:defRPr>
            </a:pPr>
            <a:r>
              <a:t>Cellula Team Project • BCI Motor Imagery Classification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E5FF"/>
                </a:solidFill>
                <a:latin typeface="Liberation Sans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